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64F490-4200-401D-AB4A-EC3F829B7295}" v="3" dt="2026-10-23T09:20:54.9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3" autoAdjust="0"/>
    <p:restoredTop sz="94660"/>
  </p:normalViewPr>
  <p:slideViewPr>
    <p:cSldViewPr snapToGrid="0">
      <p:cViewPr varScale="1">
        <p:scale>
          <a:sx n="126" d="100"/>
          <a:sy n="126" d="100"/>
        </p:scale>
        <p:origin x="91"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asimha kulkarni" userId="bbf56b3848e42db1" providerId="LiveId" clId="{31F0A776-FA85-43D7-B67D-4187F208D227}"/>
    <pc:docChg chg="modSld">
      <pc:chgData name="Narasimha kulkarni" userId="bbf56b3848e42db1" providerId="LiveId" clId="{31F0A776-FA85-43D7-B67D-4187F208D227}" dt="2026-10-23T09:21:32.353" v="83" actId="1076"/>
      <pc:docMkLst>
        <pc:docMk/>
      </pc:docMkLst>
      <pc:sldChg chg="addSp modSp mod">
        <pc:chgData name="Narasimha kulkarni" userId="bbf56b3848e42db1" providerId="LiveId" clId="{31F0A776-FA85-43D7-B67D-4187F208D227}" dt="2026-10-23T09:21:32.353" v="83" actId="1076"/>
        <pc:sldMkLst>
          <pc:docMk/>
          <pc:sldMk cId="0" sldId="262"/>
        </pc:sldMkLst>
        <pc:spChg chg="mod">
          <ac:chgData name="Narasimha kulkarni" userId="bbf56b3848e42db1" providerId="LiveId" clId="{31F0A776-FA85-43D7-B67D-4187F208D227}" dt="2026-10-23T09:21:27.282" v="82" actId="14100"/>
          <ac:spMkLst>
            <pc:docMk/>
            <pc:sldMk cId="0" sldId="262"/>
            <ac:spMk id="8" creationId="{00000000-0000-0000-0000-000000000000}"/>
          </ac:spMkLst>
        </pc:spChg>
        <pc:spChg chg="mod">
          <ac:chgData name="Narasimha kulkarni" userId="bbf56b3848e42db1" providerId="LiveId" clId="{31F0A776-FA85-43D7-B67D-4187F208D227}" dt="2026-10-23T09:21:32.353" v="83" actId="1076"/>
          <ac:spMkLst>
            <pc:docMk/>
            <pc:sldMk cId="0" sldId="262"/>
            <ac:spMk id="9" creationId="{00000000-0000-0000-0000-000000000000}"/>
          </ac:spMkLst>
        </pc:spChg>
        <pc:spChg chg="mod">
          <ac:chgData name="Narasimha kulkarni" userId="bbf56b3848e42db1" providerId="LiveId" clId="{31F0A776-FA85-43D7-B67D-4187F208D227}" dt="2026-10-23T09:21:15.629" v="81" actId="20577"/>
          <ac:spMkLst>
            <pc:docMk/>
            <pc:sldMk cId="0" sldId="262"/>
            <ac:spMk id="10" creationId="{00000000-0000-0000-0000-000000000000}"/>
          </ac:spMkLst>
        </pc:spChg>
        <pc:picChg chg="add mod">
          <ac:chgData name="Narasimha kulkarni" userId="bbf56b3848e42db1" providerId="LiveId" clId="{31F0A776-FA85-43D7-B67D-4187F208D227}" dt="2026-10-23T09:19:58.110" v="53" actId="1076"/>
          <ac:picMkLst>
            <pc:docMk/>
            <pc:sldMk cId="0" sldId="262"/>
            <ac:picMk id="12" creationId="{D5264BD9-5ADC-7ACB-7DD9-E172A4FDD991}"/>
          </ac:picMkLst>
        </pc:picChg>
      </pc:sldChg>
      <pc:sldChg chg="modSp mod">
        <pc:chgData name="Narasimha kulkarni" userId="bbf56b3848e42db1" providerId="LiveId" clId="{31F0A776-FA85-43D7-B67D-4187F208D227}" dt="2026-10-23T09:18:09.041" v="48" actId="20577"/>
        <pc:sldMkLst>
          <pc:docMk/>
          <pc:sldMk cId="0" sldId="265"/>
        </pc:sldMkLst>
        <pc:spChg chg="mod">
          <ac:chgData name="Narasimha kulkarni" userId="bbf56b3848e42db1" providerId="LiveId" clId="{31F0A776-FA85-43D7-B67D-4187F208D227}" dt="2026-10-23T09:18:09.041" v="48" actId="20577"/>
          <ac:spMkLst>
            <pc:docMk/>
            <pc:sldMk cId="0" sldId="265"/>
            <ac:spMk id="5" creationId="{00000000-0000-0000-0000-000000000000}"/>
          </ac:spMkLst>
        </pc:spChg>
        <pc:spChg chg="mod">
          <ac:chgData name="Narasimha kulkarni" userId="bbf56b3848e42db1" providerId="LiveId" clId="{31F0A776-FA85-43D7-B67D-4187F208D227}" dt="2026-10-23T09:17:44.490" v="15" actId="20577"/>
          <ac:spMkLst>
            <pc:docMk/>
            <pc:sldMk cId="0" sldId="265"/>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txBody>
          <a:bodyPr/>
          <a:lstStyle/>
          <a:p>
            <a:endParaRPr lang="en-IN"/>
          </a:p>
        </p:txBody>
      </p:sp>
      <p:sp>
        <p:nvSpPr>
          <p:cNvPr id="3" name="Shape 1"/>
          <p:cNvSpPr/>
          <p:nvPr/>
        </p:nvSpPr>
        <p:spPr>
          <a:xfrm>
            <a:off x="0" y="658368"/>
            <a:ext cx="3054096" cy="45720"/>
          </a:xfrm>
          <a:prstGeom prst="rect">
            <a:avLst/>
          </a:prstGeom>
          <a:solidFill>
            <a:srgbClr val="7C93F0"/>
          </a:solidFill>
          <a:ln w="12700">
            <a:solidFill>
              <a:srgbClr val="7C93F0"/>
            </a:solidFill>
            <a:prstDash val="solid"/>
          </a:ln>
        </p:spPr>
        <p:txBody>
          <a:bodyPr/>
          <a:lstStyle/>
          <a:p>
            <a:endParaRPr lang="en-IN"/>
          </a:p>
        </p:txBody>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txBody>
          <a:bodyPr/>
          <a:lstStyle/>
          <a:p>
            <a:endParaRPr lang="en-IN"/>
          </a:p>
        </p:txBody>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txBody>
          <a:bodyPr/>
          <a:lstStyle/>
          <a:p>
            <a:endParaRPr lang="en-IN"/>
          </a:p>
        </p:txBody>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txBody>
          <a:bodyPr/>
          <a:lstStyle/>
          <a:p>
            <a:endParaRPr lang="en-IN"/>
          </a:p>
        </p:txBody>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txBody>
          <a:bodyPr/>
          <a:lstStyle/>
          <a:p>
            <a:endParaRPr lang="en-IN"/>
          </a:p>
        </p:txBody>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txBody>
          <a:bodyPr/>
          <a:lstStyle/>
          <a:p>
            <a:endParaRPr lang="en-IN"/>
          </a:p>
        </p:txBody>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txBody>
          <a:bodyPr/>
          <a:lstStyle/>
          <a:p>
            <a:endParaRPr lang="en-IN"/>
          </a:p>
        </p:txBody>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txBody>
          <a:bodyPr/>
          <a:lstStyle/>
          <a:p>
            <a:endParaRPr lang="en-IN"/>
          </a:p>
        </p:txBody>
      </p:sp>
      <p:sp>
        <p:nvSpPr>
          <p:cNvPr id="3" name="Shape 1"/>
          <p:cNvSpPr/>
          <p:nvPr/>
        </p:nvSpPr>
        <p:spPr>
          <a:xfrm>
            <a:off x="0" y="658368"/>
            <a:ext cx="3054096" cy="45720"/>
          </a:xfrm>
          <a:prstGeom prst="rect">
            <a:avLst/>
          </a:prstGeom>
          <a:solidFill>
            <a:srgbClr val="7C93F0"/>
          </a:solidFill>
          <a:ln w="12700">
            <a:solidFill>
              <a:srgbClr val="7C93F0"/>
            </a:solidFill>
            <a:prstDash val="solid"/>
          </a:ln>
        </p:spPr>
        <p:txBody>
          <a:bodyPr/>
          <a:lstStyle/>
          <a:p>
            <a:endParaRPr lang="en-IN"/>
          </a:p>
        </p:txBody>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txBody>
          <a:bodyPr/>
          <a:lstStyle/>
          <a:p>
            <a:endParaRPr lang="en-IN"/>
          </a:p>
        </p:txBody>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txBody>
          <a:bodyPr/>
          <a:lstStyle/>
          <a:p>
            <a:endParaRPr lang="en-IN"/>
          </a:p>
        </p:txBody>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txBody>
          <a:bodyPr/>
          <a:lstStyle/>
          <a:p>
            <a:endParaRPr lang="en-IN"/>
          </a:p>
        </p:txBody>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txBody>
          <a:bodyPr/>
          <a:lstStyle/>
          <a:p>
            <a:endParaRPr lang="en-IN"/>
          </a:p>
        </p:txBody>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txBody>
          <a:bodyPr/>
          <a:lstStyle/>
          <a:p>
            <a:endParaRPr lang="en-IN"/>
          </a:p>
        </p:txBody>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txBody>
          <a:bodyPr/>
          <a:lstStyle/>
          <a:p>
            <a:endParaRPr lang="en-IN"/>
          </a:p>
        </p:txBody>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Details</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4023360" y="1261872"/>
            <a:ext cx="466344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a:p>
            <a:r>
              <a:rPr lang="en-US" sz="1200" i="1" dirty="0">
                <a:solidFill>
                  <a:srgbClr val="6F7399"/>
                </a:solidFill>
                <a:latin typeface="Calibri" pitchFamily="34" charset="0"/>
                <a:ea typeface="Calibri" pitchFamily="34" charset="-122"/>
                <a:cs typeface="Calibri" pitchFamily="34" charset="-120"/>
              </a:rPr>
              <a:t>Q-Sentinel –Hybrid Quantum-Classical Ai for Phishing URL Detection</a:t>
            </a:r>
            <a:endParaRPr lang="en-US" sz="1200" dirty="0"/>
          </a:p>
        </p:txBody>
      </p:sp>
      <p:sp>
        <p:nvSpPr>
          <p:cNvPr id="11" name="Field: TRACK"/>
          <p:cNvSpPr/>
          <p:nvPr/>
        </p:nvSpPr>
        <p:spPr>
          <a:xfrm>
            <a:off x="402336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TRACK</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Quantum + Aiml</a:t>
            </a:r>
            <a:endParaRPr lang="en-US" sz="900" dirty="0"/>
          </a:p>
        </p:txBody>
      </p:sp>
      <p:sp>
        <p:nvSpPr>
          <p:cNvPr id="12" name="Field: TEAM NAME"/>
          <p:cNvSpPr/>
          <p:nvPr/>
        </p:nvSpPr>
        <p:spPr>
          <a:xfrm>
            <a:off x="640080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Claude Plan</a:t>
            </a:r>
            <a:endParaRPr lang="en-US" sz="900" dirty="0"/>
          </a:p>
        </p:txBody>
      </p:sp>
      <p:sp>
        <p:nvSpPr>
          <p:cNvPr id="13" name="Field: TEAM LEADER"/>
          <p:cNvSpPr/>
          <p:nvPr/>
        </p:nvSpPr>
        <p:spPr>
          <a:xfrm>
            <a:off x="402336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Narasimha Kulkarni</a:t>
            </a:r>
            <a:endParaRPr lang="en-US" sz="900" dirty="0"/>
          </a:p>
        </p:txBody>
      </p:sp>
      <p:sp>
        <p:nvSpPr>
          <p:cNvPr id="14" name="Field: EMAIL / CONTACT"/>
          <p:cNvSpPr/>
          <p:nvPr/>
        </p:nvSpPr>
        <p:spPr>
          <a:xfrm>
            <a:off x="640080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EMAIL / CONTACT</a:t>
            </a:r>
            <a:endParaRPr lang="en-US" sz="900" dirty="0"/>
          </a:p>
          <a:p>
            <a:pPr marL="0" indent="0" algn="l">
              <a:buNone/>
            </a:pPr>
            <a:r>
              <a:rPr lang="en-US" sz="900" dirty="0"/>
              <a:t>+91 8105043240</a:t>
            </a:r>
          </a:p>
        </p:txBody>
      </p:sp>
      <p:sp>
        <p:nvSpPr>
          <p:cNvPr id="15" name="Field: TEAM MEMBERS"/>
          <p:cNvSpPr/>
          <p:nvPr/>
        </p:nvSpPr>
        <p:spPr>
          <a:xfrm>
            <a:off x="4023360" y="3072384"/>
            <a:ext cx="4663440" cy="77724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Member 1 – Narasimha Kulkarni</a:t>
            </a:r>
          </a:p>
          <a:p>
            <a:pPr marL="0" indent="0" algn="l">
              <a:buNone/>
            </a:pPr>
            <a:r>
              <a:rPr lang="en-US" sz="1200" i="1" dirty="0">
                <a:solidFill>
                  <a:srgbClr val="6F7399"/>
                </a:solidFill>
                <a:latin typeface="Calibri" pitchFamily="34" charset="0"/>
                <a:ea typeface="Calibri" pitchFamily="34" charset="-122"/>
                <a:cs typeface="Calibri" pitchFamily="34" charset="-120"/>
              </a:rPr>
              <a:t>Member 2 – Kartik M Dhamanekar</a:t>
            </a:r>
            <a:endParaRPr lang="en-US" sz="900" dirty="0"/>
          </a:p>
        </p:txBody>
      </p:sp>
      <p:sp>
        <p:nvSpPr>
          <p:cNvPr id="16" name="Field: INSTITUTION / ORGANISATION"/>
          <p:cNvSpPr/>
          <p:nvPr/>
        </p:nvSpPr>
        <p:spPr>
          <a:xfrm>
            <a:off x="4023360" y="3922776"/>
            <a:ext cx="2286000" cy="74066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INSTITUTION / ORGANISATION</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Jain College of Engineering And Research  Belagavi</a:t>
            </a:r>
            <a:endParaRPr lang="en-US" sz="900" dirty="0"/>
          </a:p>
        </p:txBody>
      </p:sp>
      <p:sp>
        <p:nvSpPr>
          <p:cNvPr id="17" name="Field: COUNTRY"/>
          <p:cNvSpPr/>
          <p:nvPr/>
        </p:nvSpPr>
        <p:spPr>
          <a:xfrm>
            <a:off x="640080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India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8" name="Text 6"/>
          <p:cNvSpPr txBox="1"/>
          <p:nvPr/>
        </p:nvSpPr>
        <p:spPr>
          <a:xfrm>
            <a:off x="685800" y="2106592"/>
            <a:ext cx="7208134" cy="1530868"/>
          </a:xfrm>
          <a:prstGeom prst="rect">
            <a:avLst/>
          </a:prstGeom>
          <a:noFill/>
          <a:ln/>
        </p:spPr>
        <p:txBody>
          <a:bodyPr wrap="square" lIns="0" tIns="0" rIns="0" bIns="0" rtlCol="0" anchor="t"/>
          <a:lstStyle/>
          <a:p>
            <a:r>
              <a:rPr lang="en-US" sz="1600" i="1" dirty="0">
                <a:solidFill>
                  <a:schemeClr val="tx1">
                    <a:lumMod val="40000"/>
                    <a:lumOff val="60000"/>
                  </a:schemeClr>
                </a:solidFill>
                <a:latin typeface="Calibri" pitchFamily="34" charset="0"/>
                <a:ea typeface="Calibri" pitchFamily="34" charset="-122"/>
                <a:cs typeface="Calibri" pitchFamily="34" charset="-120"/>
              </a:rPr>
              <a:t>Phishing links are becoming harder to identify, and many people unknowingly click on them and risk their personal information. Our project Q-Sentinel, aims to identify such links using machine learning and explore whether combining it with quantum computing can improve detection.</a:t>
            </a:r>
            <a:endParaRPr lang="en-IN" sz="1600" i="1" dirty="0">
              <a:solidFill>
                <a:schemeClr val="tx1">
                  <a:lumMod val="40000"/>
                  <a:lumOff val="60000"/>
                </a:schemeClr>
              </a:solidFill>
            </a:endParaRPr>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8" name="Text 6"/>
          <p:cNvSpPr txBox="1"/>
          <p:nvPr/>
        </p:nvSpPr>
        <p:spPr>
          <a:xfrm>
            <a:off x="731520" y="1929384"/>
            <a:ext cx="7782560" cy="2541452"/>
          </a:xfrm>
          <a:prstGeom prst="rect">
            <a:avLst/>
          </a:prstGeom>
          <a:noFill/>
          <a:ln/>
        </p:spPr>
        <p:txBody>
          <a:bodyPr wrap="square" lIns="0" tIns="0" rIns="0" bIns="0" rtlCol="0" anchor="t"/>
          <a:lstStyle/>
          <a:p>
            <a:pPr marL="0" indent="0">
              <a:buNone/>
            </a:pPr>
            <a:r>
              <a:rPr lang="en-US" b="1" i="1" dirty="0">
                <a:solidFill>
                  <a:srgbClr val="6F7399"/>
                </a:solidFill>
                <a:latin typeface="Calibri" pitchFamily="34" charset="0"/>
                <a:ea typeface="Calibri" pitchFamily="34" charset="-122"/>
                <a:cs typeface="Calibri" pitchFamily="34" charset="-120"/>
              </a:rPr>
              <a:t>Objectives of Q-Sentinel</a:t>
            </a:r>
          </a:p>
          <a:p>
            <a:r>
              <a:rPr lang="en-US" sz="1200" i="1" dirty="0">
                <a:solidFill>
                  <a:srgbClr val="6F7399"/>
                </a:solidFill>
                <a:latin typeface="Calibri" pitchFamily="34" charset="0"/>
                <a:ea typeface="Calibri" pitchFamily="34" charset="-122"/>
                <a:cs typeface="Calibri" pitchFamily="34" charset="-120"/>
              </a:rPr>
              <a:t> </a:t>
            </a:r>
            <a:r>
              <a:rPr lang="en-US" sz="1400" i="1" dirty="0">
                <a:solidFill>
                  <a:srgbClr val="6F7399"/>
                </a:solidFill>
                <a:latin typeface="Calibri" pitchFamily="34" charset="0"/>
                <a:ea typeface="Calibri" pitchFamily="34" charset="-122"/>
                <a:cs typeface="Calibri" pitchFamily="34" charset="-120"/>
              </a:rPr>
              <a:t>1.To develop a system that identifies potentially phishing URLs using machine learning. </a:t>
            </a:r>
          </a:p>
          <a:p>
            <a:r>
              <a:rPr lang="en-IN" sz="1400" i="1" dirty="0">
                <a:solidFill>
                  <a:srgbClr val="6F7399"/>
                </a:solidFill>
                <a:latin typeface="Calibri" pitchFamily="34" charset="0"/>
                <a:ea typeface="Calibri" pitchFamily="34" charset="-122"/>
                <a:cs typeface="Calibri" pitchFamily="34" charset="-120"/>
              </a:rPr>
              <a:t>2.To help users recognize suspicious links and reduce the risk of online scams.</a:t>
            </a:r>
          </a:p>
          <a:p>
            <a:r>
              <a:rPr lang="en-IN" sz="1400" i="1" dirty="0">
                <a:solidFill>
                  <a:srgbClr val="6F7399"/>
                </a:solidFill>
                <a:latin typeface="Calibri" pitchFamily="34" charset="0"/>
                <a:ea typeface="Calibri" pitchFamily="34" charset="-122"/>
                <a:cs typeface="Calibri" pitchFamily="34" charset="-120"/>
              </a:rPr>
              <a:t>3.To apply quantum machine learning techniques and compare their performance with traditional ML models</a:t>
            </a:r>
            <a:r>
              <a:rPr lang="en-IN" sz="1200" i="1" dirty="0">
                <a:solidFill>
                  <a:srgbClr val="6F7399"/>
                </a:solidFill>
                <a:latin typeface="Calibri" pitchFamily="34" charset="0"/>
                <a:ea typeface="Calibri" pitchFamily="34" charset="-122"/>
                <a:cs typeface="Calibri" pitchFamily="34" charset="-120"/>
              </a:rPr>
              <a:t>.</a:t>
            </a:r>
          </a:p>
          <a:p>
            <a:endParaRPr lang="en-US" sz="1200" i="1" dirty="0">
              <a:solidFill>
                <a:srgbClr val="6F7399"/>
              </a:solidFill>
              <a:latin typeface="Calibri" pitchFamily="34" charset="0"/>
              <a:ea typeface="Calibri" pitchFamily="34" charset="-122"/>
              <a:cs typeface="Calibri" pitchFamily="34" charset="-120"/>
            </a:endParaRPr>
          </a:p>
          <a:p>
            <a:r>
              <a:rPr lang="en-US" b="1" i="1" dirty="0">
                <a:solidFill>
                  <a:srgbClr val="6F7399"/>
                </a:solidFill>
                <a:latin typeface="Calibri" pitchFamily="34" charset="0"/>
                <a:ea typeface="Calibri" pitchFamily="34" charset="-122"/>
                <a:cs typeface="Calibri" pitchFamily="34" charset="-120"/>
              </a:rPr>
              <a:t>Novelty of Q-Sentinel</a:t>
            </a:r>
          </a:p>
          <a:p>
            <a:r>
              <a:rPr lang="en-US" sz="1400" i="1" dirty="0">
                <a:solidFill>
                  <a:srgbClr val="6F7399"/>
                </a:solidFill>
                <a:latin typeface="Calibri" pitchFamily="34" charset="0"/>
                <a:ea typeface="Calibri" pitchFamily="34" charset="-122"/>
                <a:cs typeface="Calibri" pitchFamily="34" charset="-120"/>
              </a:rPr>
              <a:t>Q-Sentinel combines traditional machine learning with quantum computing to explore a </a:t>
            </a:r>
          </a:p>
          <a:p>
            <a:r>
              <a:rPr lang="en-US" sz="1400" i="1" dirty="0">
                <a:solidFill>
                  <a:srgbClr val="6F7399"/>
                </a:solidFill>
                <a:latin typeface="Calibri" pitchFamily="34" charset="0"/>
                <a:ea typeface="Calibri" pitchFamily="34" charset="-122"/>
                <a:cs typeface="Calibri" pitchFamily="34" charset="-120"/>
              </a:rPr>
              <a:t>new approach to phishing detection. Its main novelty is comparing both approaches on the </a:t>
            </a:r>
          </a:p>
          <a:p>
            <a:r>
              <a:rPr lang="en-US" sz="1400" i="1" dirty="0">
                <a:solidFill>
                  <a:srgbClr val="6F7399"/>
                </a:solidFill>
                <a:latin typeface="Calibri" pitchFamily="34" charset="0"/>
                <a:ea typeface="Calibri" pitchFamily="34" charset="-122"/>
                <a:cs typeface="Calibri" pitchFamily="34" charset="-120"/>
              </a:rPr>
              <a:t>Same dataset to understand their performance, strengths, and limitations in real-world</a:t>
            </a:r>
          </a:p>
          <a:p>
            <a:r>
              <a:rPr lang="en-US" sz="1400" i="1" dirty="0">
                <a:solidFill>
                  <a:srgbClr val="6F7399"/>
                </a:solidFill>
                <a:latin typeface="Calibri" pitchFamily="34" charset="0"/>
                <a:ea typeface="Calibri" pitchFamily="34" charset="-122"/>
                <a:cs typeface="Calibri" pitchFamily="34" charset="-120"/>
              </a:rPr>
              <a:t>cybersecurity.</a:t>
            </a:r>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746504"/>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5B3BA8"/>
          </a:solidFill>
          <a:ln w="12700">
            <a:solidFill>
              <a:srgbClr val="5B3BA8"/>
            </a:solidFill>
            <a:prstDash val="solid"/>
          </a:ln>
        </p:spPr>
        <p:txBody>
          <a:bodyPr/>
          <a:lstStyle/>
          <a:p>
            <a:endParaRPr lang="en-IN"/>
          </a:p>
        </p:txBody>
      </p:sp>
      <p:sp>
        <p:nvSpPr>
          <p:cNvPr id="8" name="Text 6"/>
          <p:cNvSpPr txBox="1"/>
          <p:nvPr/>
        </p:nvSpPr>
        <p:spPr>
          <a:xfrm>
            <a:off x="731519" y="1874520"/>
            <a:ext cx="7451781" cy="2550482"/>
          </a:xfrm>
          <a:prstGeom prst="rect">
            <a:avLst/>
          </a:prstGeom>
          <a:noFill/>
          <a:ln/>
        </p:spPr>
        <p:txBody>
          <a:bodyPr wrap="square" lIns="0" tIns="0" rIns="0" bIns="0" rtlCol="0" anchor="t"/>
          <a:lstStyle/>
          <a:p>
            <a:pPr marL="0" indent="0">
              <a:buNone/>
            </a:pPr>
            <a:r>
              <a:rPr lang="en-US" b="1" i="1" dirty="0">
                <a:solidFill>
                  <a:schemeClr val="tx1">
                    <a:lumMod val="40000"/>
                    <a:lumOff val="60000"/>
                  </a:schemeClr>
                </a:solidFill>
                <a:latin typeface="Calibri" pitchFamily="34" charset="0"/>
                <a:ea typeface="Calibri" pitchFamily="34" charset="-122"/>
                <a:cs typeface="Calibri" pitchFamily="34" charset="-120"/>
              </a:rPr>
              <a:t>Solutions</a:t>
            </a:r>
          </a:p>
          <a:p>
            <a:pPr marL="0" indent="0">
              <a:buNone/>
            </a:pPr>
            <a:r>
              <a:rPr lang="en-US" sz="1600" i="1" dirty="0">
                <a:solidFill>
                  <a:schemeClr val="tx1">
                    <a:lumMod val="40000"/>
                    <a:lumOff val="60000"/>
                  </a:schemeClr>
                </a:solidFill>
                <a:latin typeface="Calibri" pitchFamily="34" charset="0"/>
                <a:ea typeface="Calibri" pitchFamily="34" charset="-122"/>
                <a:cs typeface="Calibri" pitchFamily="34" charset="-120"/>
              </a:rPr>
              <a:t>Q-Sentinel analyzes the features of a URL to identify suspicious links and warn users about possible phishing attacks. It uses traditional machine learning and a quantum based model to compare compare their results and find  a reliable way to detect fake links. </a:t>
            </a:r>
          </a:p>
          <a:p>
            <a:pPr marL="0" indent="0">
              <a:buNone/>
            </a:pPr>
            <a:endParaRPr lang="en-US" sz="1400" i="1" dirty="0">
              <a:solidFill>
                <a:srgbClr val="6F7399"/>
              </a:solidFill>
              <a:latin typeface="Calibri" pitchFamily="34" charset="0"/>
              <a:ea typeface="Calibri" pitchFamily="34" charset="-122"/>
              <a:cs typeface="Calibri" pitchFamily="34" charset="-120"/>
            </a:endParaRPr>
          </a:p>
          <a:p>
            <a:pPr marL="0" indent="0">
              <a:buNone/>
            </a:pPr>
            <a:r>
              <a:rPr lang="en-US" b="1" i="1" dirty="0">
                <a:solidFill>
                  <a:schemeClr val="tx1">
                    <a:lumMod val="40000"/>
                    <a:lumOff val="60000"/>
                  </a:schemeClr>
                </a:solidFill>
                <a:latin typeface="Calibri" pitchFamily="34" charset="0"/>
                <a:ea typeface="Calibri" pitchFamily="34" charset="-122"/>
                <a:cs typeface="Calibri" pitchFamily="34" charset="-120"/>
              </a:rPr>
              <a:t>Quantum Advantages</a:t>
            </a:r>
          </a:p>
          <a:p>
            <a:r>
              <a:rPr lang="en-IN" sz="1600" i="1" dirty="0">
                <a:solidFill>
                  <a:schemeClr val="tx1">
                    <a:lumMod val="40000"/>
                    <a:lumOff val="60000"/>
                  </a:schemeClr>
                </a:solidFill>
              </a:rPr>
              <a:t>We want to explore whether quantum computing can help improve phishing detection by identifying patterns that traditional models might miss. By comparing both approaches, we can understand where quantum machine learning may be useful and where traditional methods still perform better.</a:t>
            </a:r>
            <a:endParaRPr lang="en-US" sz="1600" i="1" dirty="0">
              <a:solidFill>
                <a:schemeClr val="tx1">
                  <a:lumMod val="40000"/>
                  <a:lumOff val="60000"/>
                </a:schemeClr>
              </a:solidFill>
            </a:endParaRPr>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Insert area"/>
          <p:cNvSpPr/>
          <p:nvPr/>
        </p:nvSpPr>
        <p:spPr>
          <a:xfrm>
            <a:off x="457200" y="1691640"/>
            <a:ext cx="4937760" cy="2926080"/>
          </a:xfrm>
          <a:prstGeom prst="roundRect">
            <a:avLst>
              <a:gd name="adj" fmla="val 2500"/>
            </a:avLst>
          </a:prstGeom>
          <a:solidFill>
            <a:srgbClr val="EEF0FE"/>
          </a:solidFill>
          <a:ln w="15875">
            <a:solidFill>
              <a:srgbClr val="7C93F0"/>
            </a:solidFill>
            <a:prstDash val="dash"/>
          </a:ln>
        </p:spPr>
        <p:txBody>
          <a:bodyPr/>
          <a:lstStyle/>
          <a:p>
            <a:endParaRPr lang="en-IN"/>
          </a:p>
        </p:txBody>
      </p:sp>
      <p:sp>
        <p:nvSpPr>
          <p:cNvPr id="7" name="Text 5"/>
          <p:cNvSpPr txBox="1"/>
          <p:nvPr/>
        </p:nvSpPr>
        <p:spPr>
          <a:xfrm>
            <a:off x="643128" y="1691640"/>
            <a:ext cx="4565904" cy="2720340"/>
          </a:xfrm>
          <a:prstGeom prst="rect">
            <a:avLst/>
          </a:prstGeom>
          <a:noFill/>
          <a:ln/>
        </p:spPr>
        <p:txBody>
          <a:bodyPr wrap="square" lIns="0" tIns="0" rIns="0" bIns="0" rtlCol="0" anchor="ctr"/>
          <a:lstStyle/>
          <a:p>
            <a:pPr lvl="0"/>
            <a:r>
              <a:rPr lang="en-IN" sz="1400" i="1" dirty="0">
                <a:solidFill>
                  <a:schemeClr val="tx1">
                    <a:lumMod val="40000"/>
                    <a:lumOff val="60000"/>
                  </a:schemeClr>
                </a:solidFill>
              </a:rPr>
              <a:t>1. Input URL: User enters a link to check.</a:t>
            </a:r>
          </a:p>
          <a:p>
            <a:pPr lvl="0"/>
            <a:r>
              <a:rPr lang="en-IN" sz="1400" i="1" dirty="0">
                <a:solidFill>
                  <a:schemeClr val="tx1">
                    <a:lumMod val="40000"/>
                    <a:lumOff val="60000"/>
                  </a:schemeClr>
                </a:solidFill>
              </a:rPr>
              <a:t>2. Feature Extraction: Extract URL details like length, special characters, HTTPS, and subdomains.</a:t>
            </a:r>
          </a:p>
          <a:p>
            <a:pPr lvl="0"/>
            <a:r>
              <a:rPr lang="en-IN" sz="1400" i="1" dirty="0">
                <a:solidFill>
                  <a:schemeClr val="tx1">
                    <a:lumMod val="40000"/>
                    <a:lumOff val="60000"/>
                  </a:schemeClr>
                </a:solidFill>
              </a:rPr>
              <a:t>3. ML Prediction: A classical machine learning model predicts whether the URL is legitimate or phishing.</a:t>
            </a:r>
          </a:p>
          <a:p>
            <a:pPr lvl="0"/>
            <a:r>
              <a:rPr lang="en-IN" sz="1400" i="1" dirty="0">
                <a:solidFill>
                  <a:schemeClr val="tx1">
                    <a:lumMod val="40000"/>
                    <a:lumOff val="60000"/>
                  </a:schemeClr>
                </a:solidFill>
              </a:rPr>
              <a:t>4. Quantum ML: A quantum-based model analyzes the same features for comparison.</a:t>
            </a:r>
          </a:p>
          <a:p>
            <a:pPr lvl="0"/>
            <a:r>
              <a:rPr lang="en-IN" sz="1400" i="1" dirty="0">
                <a:solidFill>
                  <a:schemeClr val="tx1">
                    <a:lumMod val="40000"/>
                    <a:lumOff val="60000"/>
                  </a:schemeClr>
                </a:solidFill>
              </a:rPr>
              <a:t>5. Performance Evaluation: Compare both models using accuracy, precision, recall, and F1-score.</a:t>
            </a:r>
          </a:p>
          <a:p>
            <a:pPr lvl="0"/>
            <a:r>
              <a:rPr lang="en-IN" sz="1400" i="1" dirty="0">
                <a:solidFill>
                  <a:schemeClr val="tx1">
                    <a:lumMod val="40000"/>
                    <a:lumOff val="60000"/>
                  </a:schemeClr>
                </a:solidFill>
              </a:rPr>
              <a:t>6. Display Result: Show the prediction and warn the user if the URL appears suspicious.</a:t>
            </a:r>
          </a:p>
        </p:txBody>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p:cNvSpPr/>
          <p:nvPr/>
        </p:nvSpPr>
        <p:spPr>
          <a:xfrm>
            <a:off x="580644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10" name="Text 8"/>
          <p:cNvSpPr txBox="1"/>
          <p:nvPr/>
        </p:nvSpPr>
        <p:spPr>
          <a:xfrm>
            <a:off x="5791200" y="1899920"/>
            <a:ext cx="2709672" cy="2402332"/>
          </a:xfrm>
          <a:prstGeom prst="rect">
            <a:avLst/>
          </a:prstGeom>
          <a:noFill/>
          <a:ln/>
        </p:spPr>
        <p:txBody>
          <a:bodyPr wrap="square" lIns="0" tIns="0" rIns="0" bIns="0" rtlCol="0" anchor="t"/>
          <a:lstStyle/>
          <a:p>
            <a:r>
              <a:rPr lang="en-IN" sz="1400" i="1" dirty="0">
                <a:solidFill>
                  <a:schemeClr val="tx1">
                    <a:lumMod val="40000"/>
                    <a:lumOff val="60000"/>
                  </a:schemeClr>
                </a:solidFill>
              </a:rPr>
              <a:t>Key  Details : Python, Scikit-learn, Qiskit, URL feature extraction, phishing detection, and</a:t>
            </a:r>
          </a:p>
          <a:p>
            <a:r>
              <a:rPr lang="en-IN" sz="1400" i="1" dirty="0">
                <a:solidFill>
                  <a:schemeClr val="tx1">
                    <a:lumMod val="40000"/>
                    <a:lumOff val="60000"/>
                  </a:schemeClr>
                </a:solidFill>
              </a:rPr>
              <a:t>classical-versus-quantum </a:t>
            </a:r>
          </a:p>
          <a:p>
            <a:r>
              <a:rPr lang="en-IN" sz="1400" i="1" dirty="0">
                <a:solidFill>
                  <a:schemeClr val="tx1">
                    <a:lumMod val="40000"/>
                    <a:lumOff val="60000"/>
                  </a:schemeClr>
                </a:solidFill>
              </a:rPr>
              <a:t>model comparison</a:t>
            </a:r>
            <a:endParaRPr lang="en-US" sz="1400" i="1" dirty="0">
              <a:solidFill>
                <a:schemeClr val="tx1">
                  <a:lumMod val="40000"/>
                  <a:lumOff val="60000"/>
                </a:schemeClr>
              </a:solidFill>
            </a:endParaRPr>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8" name="Text 6"/>
          <p:cNvSpPr txBox="1"/>
          <p:nvPr/>
        </p:nvSpPr>
        <p:spPr>
          <a:xfrm>
            <a:off x="731520" y="1874520"/>
            <a:ext cx="7772400" cy="2743200"/>
          </a:xfrm>
          <a:prstGeom prst="rect">
            <a:avLst/>
          </a:prstGeom>
          <a:noFill/>
          <a:ln/>
        </p:spPr>
        <p:txBody>
          <a:bodyPr wrap="square" lIns="0" tIns="0" rIns="0" bIns="0" rtlCol="0" anchor="t"/>
          <a:lstStyle/>
          <a:p>
            <a:r>
              <a:rPr lang="en-IN" sz="1600" b="1" i="1" dirty="0">
                <a:solidFill>
                  <a:schemeClr val="tx1">
                    <a:lumMod val="40000"/>
                    <a:lumOff val="60000"/>
                  </a:schemeClr>
                </a:solidFill>
              </a:rPr>
              <a:t>Implementation</a:t>
            </a:r>
          </a:p>
          <a:p>
            <a:r>
              <a:rPr lang="en-IN" sz="1400" i="1" dirty="0">
                <a:solidFill>
                  <a:schemeClr val="tx1">
                    <a:lumMod val="40000"/>
                    <a:lumOff val="60000"/>
                  </a:schemeClr>
                </a:solidFill>
              </a:rPr>
              <a:t>Q-Sentinel is implemented using Python to analyze URLs and identify possible phishing links. We extract useful details from each URL and use a machine learning model to classify it as legitimate or suspicious. We also plan to test a quantum-based model and compare its performance with the traditional model using actual experimental results.</a:t>
            </a:r>
          </a:p>
          <a:p>
            <a:r>
              <a:rPr lang="en-IN" sz="1600" b="1" i="1" dirty="0">
                <a:solidFill>
                  <a:schemeClr val="tx1">
                    <a:lumMod val="40000"/>
                    <a:lumOff val="60000"/>
                  </a:schemeClr>
                </a:solidFill>
              </a:rPr>
              <a:t>Tech Stack</a:t>
            </a:r>
          </a:p>
          <a:p>
            <a:pPr marL="285750" lvl="0" indent="-285750">
              <a:buFont typeface="Wingdings" panose="05000000000000000000" pitchFamily="2" charset="2"/>
              <a:buChar char="Ø"/>
            </a:pPr>
            <a:r>
              <a:rPr lang="en-IN" sz="1400" i="1" dirty="0">
                <a:solidFill>
                  <a:schemeClr val="tx1">
                    <a:lumMod val="40000"/>
                    <a:lumOff val="60000"/>
                  </a:schemeClr>
                </a:solidFill>
              </a:rPr>
              <a:t>Python: Main programming language.</a:t>
            </a:r>
          </a:p>
          <a:p>
            <a:pPr marL="285750" lvl="0" indent="-285750">
              <a:buFont typeface="Wingdings" panose="05000000000000000000" pitchFamily="2" charset="2"/>
              <a:buChar char="Ø"/>
            </a:pPr>
            <a:r>
              <a:rPr lang="en-IN" sz="1400" i="1" dirty="0">
                <a:solidFill>
                  <a:schemeClr val="tx1">
                    <a:lumMod val="40000"/>
                    <a:lumOff val="60000"/>
                  </a:schemeClr>
                </a:solidFill>
              </a:rPr>
              <a:t>Pandas and Scikit-learn: Data handling, feature extraction, and machine learning.</a:t>
            </a:r>
          </a:p>
          <a:p>
            <a:pPr marL="285750" lvl="0" indent="-285750">
              <a:buFont typeface="Wingdings" panose="05000000000000000000" pitchFamily="2" charset="2"/>
              <a:buChar char="Ø"/>
            </a:pPr>
            <a:r>
              <a:rPr lang="en-IN" sz="1400" i="1" dirty="0">
                <a:solidFill>
                  <a:schemeClr val="tx1">
                    <a:lumMod val="40000"/>
                    <a:lumOff val="60000"/>
                  </a:schemeClr>
                </a:solidFill>
              </a:rPr>
              <a:t>Qiskit: Exploring the quantum machine learning approach.</a:t>
            </a:r>
          </a:p>
          <a:p>
            <a:pPr marL="285750" lvl="0" indent="-285750">
              <a:buFont typeface="Wingdings" panose="05000000000000000000" pitchFamily="2" charset="2"/>
              <a:buChar char="Ø"/>
            </a:pPr>
            <a:r>
              <a:rPr lang="en-IN" sz="1400" i="1" dirty="0">
                <a:solidFill>
                  <a:schemeClr val="tx1">
                    <a:lumMod val="40000"/>
                    <a:lumOff val="60000"/>
                  </a:schemeClr>
                </a:solidFill>
              </a:rPr>
              <a:t>Streamlit: Building a simple user interface.</a:t>
            </a:r>
          </a:p>
          <a:p>
            <a:pPr marL="285750" lvl="0" indent="-285750">
              <a:buFont typeface="Wingdings" panose="05000000000000000000" pitchFamily="2" charset="2"/>
              <a:buChar char="Ø"/>
            </a:pPr>
            <a:r>
              <a:rPr lang="en-IN" sz="1400" i="1" dirty="0">
                <a:solidFill>
                  <a:schemeClr val="tx1">
                    <a:lumMod val="40000"/>
                    <a:lumOff val="60000"/>
                  </a:schemeClr>
                </a:solidFill>
              </a:rPr>
              <a:t>Plotly: Displaying model performance and comparison charts.</a:t>
            </a:r>
          </a:p>
          <a:p>
            <a:pPr marL="285750" lvl="0" indent="-285750">
              <a:buFont typeface="Wingdings" panose="05000000000000000000" pitchFamily="2" charset="2"/>
              <a:buChar char="Ø"/>
            </a:pPr>
            <a:r>
              <a:rPr lang="en-IN" sz="1400" i="1" dirty="0">
                <a:solidFill>
                  <a:schemeClr val="tx1">
                    <a:lumMod val="40000"/>
                    <a:lumOff val="60000"/>
                  </a:schemeClr>
                </a:solidFill>
              </a:rPr>
              <a:t>Joblib: Saving and loading the trained model.</a:t>
            </a:r>
          </a:p>
          <a:p>
            <a:pPr marL="0" indent="0">
              <a:buNone/>
            </a:pPr>
            <a:endParaRPr lang="en-US" sz="1400" i="1" dirty="0">
              <a:solidFill>
                <a:schemeClr val="tx1">
                  <a:lumMod val="40000"/>
                  <a:lumOff val="60000"/>
                </a:schemeClr>
              </a:solidFill>
            </a:endParaRPr>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Insert area"/>
          <p:cNvSpPr/>
          <p:nvPr/>
        </p:nvSpPr>
        <p:spPr>
          <a:xfrm>
            <a:off x="457200" y="1691640"/>
            <a:ext cx="4937760" cy="2926080"/>
          </a:xfrm>
          <a:prstGeom prst="roundRect">
            <a:avLst>
              <a:gd name="adj" fmla="val 2500"/>
            </a:avLst>
          </a:prstGeom>
          <a:solidFill>
            <a:srgbClr val="EEF0FE"/>
          </a:solidFill>
          <a:ln w="15875">
            <a:solidFill>
              <a:srgbClr val="7C93F0"/>
            </a:solidFill>
            <a:prstDash val="dash"/>
          </a:ln>
        </p:spPr>
        <p:txBody>
          <a:bodyPr/>
          <a:lstStyle/>
          <a:p>
            <a:endParaRPr lang="en-IN"/>
          </a:p>
        </p:txBody>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results</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Histogram, plot or table</a:t>
            </a:r>
            <a:endParaRPr lang="en-US" sz="1400" dirty="0"/>
          </a:p>
        </p:txBody>
      </p:sp>
      <p:sp>
        <p:nvSpPr>
          <p:cNvPr id="8" name="Content card"/>
          <p:cNvSpPr/>
          <p:nvPr/>
        </p:nvSpPr>
        <p:spPr>
          <a:xfrm>
            <a:off x="5777675" y="1637139"/>
            <a:ext cx="3108960" cy="3152864"/>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p:cNvSpPr/>
          <p:nvPr/>
        </p:nvSpPr>
        <p:spPr>
          <a:xfrm>
            <a:off x="5854885" y="1612916"/>
            <a:ext cx="822960" cy="54864"/>
          </a:xfrm>
          <a:prstGeom prst="rect">
            <a:avLst/>
          </a:prstGeom>
          <a:solidFill>
            <a:srgbClr val="5B3BA8"/>
          </a:solidFill>
          <a:ln w="12700">
            <a:solidFill>
              <a:srgbClr val="5B3BA8"/>
            </a:solidFill>
            <a:prstDash val="solid"/>
          </a:ln>
        </p:spPr>
        <p:txBody>
          <a:bodyPr/>
          <a:lstStyle/>
          <a:p>
            <a:endParaRPr lang="en-IN"/>
          </a:p>
        </p:txBody>
      </p:sp>
      <p:sp>
        <p:nvSpPr>
          <p:cNvPr id="10" name="Text 8"/>
          <p:cNvSpPr txBox="1"/>
          <p:nvPr/>
        </p:nvSpPr>
        <p:spPr>
          <a:xfrm>
            <a:off x="5806440" y="1725855"/>
            <a:ext cx="3200400" cy="2670532"/>
          </a:xfrm>
          <a:prstGeom prst="rect">
            <a:avLst/>
          </a:prstGeom>
          <a:noFill/>
          <a:ln/>
        </p:spPr>
        <p:txBody>
          <a:bodyPr wrap="square" lIns="0" tIns="0" rIns="0" bIns="0" rtlCol="0" anchor="t"/>
          <a:lstStyle/>
          <a:p>
            <a:r>
              <a:rPr lang="en-US" sz="1200" i="1" dirty="0">
                <a:solidFill>
                  <a:srgbClr val="6F7399"/>
                </a:solidFill>
                <a:latin typeface="Calibri" pitchFamily="34" charset="0"/>
                <a:ea typeface="Calibri" pitchFamily="34" charset="-122"/>
                <a:cs typeface="Calibri" pitchFamily="34" charset="-120"/>
              </a:rPr>
              <a:t>Add key details:</a:t>
            </a:r>
            <a:endParaRPr lang="en-IN" sz="1200" b="1" dirty="0"/>
          </a:p>
          <a:p>
            <a:pPr lvl="0"/>
            <a:r>
              <a:rPr lang="en-IN" sz="1200" dirty="0"/>
              <a:t>URL analysis: Extracts URL characteristics to identify suspicious patterns.</a:t>
            </a:r>
          </a:p>
          <a:p>
            <a:pPr lvl="0"/>
            <a:r>
              <a:rPr lang="en-IN" sz="1200" dirty="0"/>
              <a:t>Classical ML: The project README identifies a Random Forest classifier using 12 lexical features.</a:t>
            </a:r>
          </a:p>
          <a:p>
            <a:pPr lvl="0"/>
            <a:r>
              <a:rPr lang="en-IN" sz="1200" dirty="0"/>
              <a:t>Threat intelligence: The project is designed to use AlienVault OTX for additional threat information.</a:t>
            </a:r>
          </a:p>
          <a:p>
            <a:pPr lvl="0"/>
            <a:r>
              <a:rPr lang="en-IN" sz="1200" dirty="0"/>
              <a:t>Quantum research: The project explores a hybrid quantum-classical approach, but this screenshot does not show quantum-model results.</a:t>
            </a:r>
          </a:p>
          <a:p>
            <a:pPr lvl="0"/>
            <a:r>
              <a:rPr lang="en-IN" sz="1200" dirty="0"/>
              <a:t>Dashboard: Provides an Evaluation page for</a:t>
            </a:r>
          </a:p>
          <a:p>
            <a:pPr lvl="0"/>
            <a:r>
              <a:rPr lang="en-IN" sz="1200" dirty="0"/>
              <a:t> viewing model metrics and the confusion matrix.</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pic>
        <p:nvPicPr>
          <p:cNvPr id="12" name="Picture 11">
            <a:extLst>
              <a:ext uri="{FF2B5EF4-FFF2-40B4-BE49-F238E27FC236}">
                <a16:creationId xmlns:a16="http://schemas.microsoft.com/office/drawing/2014/main" id="{D5264BD9-5ADC-7ACB-7DD9-E172A4FDD991}"/>
              </a:ext>
            </a:extLst>
          </p:cNvPr>
          <p:cNvPicPr>
            <a:picLocks noChangeAspect="1"/>
          </p:cNvPicPr>
          <p:nvPr/>
        </p:nvPicPr>
        <p:blipFill>
          <a:blip r:embed="rId3"/>
          <a:stretch>
            <a:fillRect/>
          </a:stretch>
        </p:blipFill>
        <p:spPr>
          <a:xfrm>
            <a:off x="416130" y="1677410"/>
            <a:ext cx="5076325" cy="29127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8" name="Text 6"/>
          <p:cNvSpPr txBox="1"/>
          <p:nvPr/>
        </p:nvSpPr>
        <p:spPr>
          <a:xfrm>
            <a:off x="731520" y="1929384"/>
            <a:ext cx="7703820" cy="2596896"/>
          </a:xfrm>
          <a:prstGeom prst="rect">
            <a:avLst/>
          </a:prstGeom>
          <a:noFill/>
          <a:ln/>
        </p:spPr>
        <p:txBody>
          <a:bodyPr wrap="square" lIns="0" tIns="0" rIns="0" bIns="0" rtlCol="0" anchor="t"/>
          <a:lstStyle/>
          <a:p>
            <a:r>
              <a:rPr lang="en-IN" sz="1600" b="1" i="1" dirty="0">
                <a:solidFill>
                  <a:schemeClr val="tx1">
                    <a:lumMod val="40000"/>
                    <a:lumOff val="60000"/>
                  </a:schemeClr>
                </a:solidFill>
              </a:rPr>
              <a:t>Impact</a:t>
            </a:r>
          </a:p>
          <a:p>
            <a:r>
              <a:rPr lang="en-IN" sz="1400" i="1" dirty="0">
                <a:solidFill>
                  <a:schemeClr val="tx1">
                    <a:lumMod val="40000"/>
                    <a:lumOff val="60000"/>
                  </a:schemeClr>
                </a:solidFill>
              </a:rPr>
              <a:t>Q-Sentinel aims to help people identify suspicious links before they share personal information or fall victim to online scams. It can improve awareness of phishing attacks and explore whether quantum machine learning can make link detection more effective.</a:t>
            </a:r>
          </a:p>
          <a:p>
            <a:pPr marL="0" indent="0">
              <a:buNone/>
            </a:pPr>
            <a:endParaRPr lang="en-US" sz="1200" dirty="0"/>
          </a:p>
          <a:p>
            <a:r>
              <a:rPr lang="en-IN" sz="1600" b="1" i="1" dirty="0">
                <a:solidFill>
                  <a:schemeClr val="tx1">
                    <a:lumMod val="40000"/>
                    <a:lumOff val="60000"/>
                  </a:schemeClr>
                </a:solidFill>
              </a:rPr>
              <a:t>Real-World Applications</a:t>
            </a:r>
          </a:p>
          <a:p>
            <a:pPr marL="285750" lvl="0" indent="-285750">
              <a:buFont typeface="Wingdings" panose="05000000000000000000" pitchFamily="2" charset="2"/>
              <a:buChar char="Ø"/>
            </a:pPr>
            <a:r>
              <a:rPr lang="en-IN" sz="1400" i="1" dirty="0">
                <a:solidFill>
                  <a:schemeClr val="tx1">
                    <a:lumMod val="40000"/>
                    <a:lumOff val="60000"/>
                  </a:schemeClr>
                </a:solidFill>
              </a:rPr>
              <a:t>Online Banking: Helps users spot potentially fake banking links.</a:t>
            </a:r>
          </a:p>
          <a:p>
            <a:pPr marL="285750" lvl="0" indent="-285750">
              <a:buFont typeface="Wingdings" panose="05000000000000000000" pitchFamily="2" charset="2"/>
              <a:buChar char="Ø"/>
            </a:pPr>
            <a:r>
              <a:rPr lang="en-IN" sz="1400" i="1" dirty="0">
                <a:solidFill>
                  <a:schemeClr val="tx1">
                    <a:lumMod val="40000"/>
                    <a:lumOff val="60000"/>
                  </a:schemeClr>
                </a:solidFill>
              </a:rPr>
              <a:t>Email Security: Identifies suspicious links received through emails.</a:t>
            </a:r>
          </a:p>
          <a:p>
            <a:pPr marL="285750" lvl="0" indent="-285750">
              <a:buFont typeface="Wingdings" panose="05000000000000000000" pitchFamily="2" charset="2"/>
              <a:buChar char="Ø"/>
            </a:pPr>
            <a:r>
              <a:rPr lang="en-IN" sz="1400" i="1" dirty="0">
                <a:solidFill>
                  <a:schemeClr val="tx1">
                    <a:lumMod val="40000"/>
                    <a:lumOff val="60000"/>
                  </a:schemeClr>
                </a:solidFill>
              </a:rPr>
              <a:t>Social Media: Helps users check links shared in messages and posts.</a:t>
            </a:r>
          </a:p>
          <a:p>
            <a:pPr marL="285750" lvl="0" indent="-285750">
              <a:buFont typeface="Wingdings" panose="05000000000000000000" pitchFamily="2" charset="2"/>
              <a:buChar char="Ø"/>
            </a:pPr>
            <a:r>
              <a:rPr lang="en-IN" sz="1400" i="1" dirty="0">
                <a:solidFill>
                  <a:schemeClr val="tx1">
                    <a:lumMod val="40000"/>
                    <a:lumOff val="60000"/>
                  </a:schemeClr>
                </a:solidFill>
              </a:rPr>
              <a:t>E-commerce: Helps detect potentially fraudulent shopping websites.</a:t>
            </a:r>
          </a:p>
          <a:p>
            <a:pPr marL="285750" lvl="0" indent="-285750">
              <a:buFont typeface="Wingdings" panose="05000000000000000000" pitchFamily="2" charset="2"/>
              <a:buChar char="Ø"/>
            </a:pPr>
            <a:r>
              <a:rPr lang="en-IN" sz="1400" i="1" dirty="0">
                <a:solidFill>
                  <a:schemeClr val="tx1">
                    <a:lumMod val="40000"/>
                    <a:lumOff val="60000"/>
                  </a:schemeClr>
                </a:solidFill>
              </a:rPr>
              <a:t>Cybersecurity: Can support security teams in identifying phishing threats.</a:t>
            </a:r>
          </a:p>
          <a:p>
            <a:pPr marL="0" indent="0">
              <a:buNone/>
            </a:pPr>
            <a:endParaRPr lang="en-US" sz="1200" dirty="0"/>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199" y="1691640"/>
            <a:ext cx="8588829"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8" name="Text 6"/>
          <p:cNvSpPr txBox="1"/>
          <p:nvPr/>
        </p:nvSpPr>
        <p:spPr>
          <a:xfrm>
            <a:off x="731520" y="1874520"/>
            <a:ext cx="8194766" cy="2743200"/>
          </a:xfrm>
          <a:prstGeom prst="rect">
            <a:avLst/>
          </a:prstGeom>
          <a:noFill/>
          <a:ln/>
        </p:spPr>
        <p:txBody>
          <a:bodyPr wrap="square" lIns="0" tIns="0" rIns="0" bIns="0" rtlCol="0" anchor="t"/>
          <a:lstStyle/>
          <a:p>
            <a:r>
              <a:rPr lang="en-IN" sz="1600" b="1" i="1" dirty="0">
                <a:solidFill>
                  <a:schemeClr val="tx1">
                    <a:lumMod val="40000"/>
                    <a:lumOff val="60000"/>
                  </a:schemeClr>
                </a:solidFill>
              </a:rPr>
              <a:t>Challenges</a:t>
            </a:r>
          </a:p>
          <a:p>
            <a:pPr marL="285750" lvl="0" indent="-285750">
              <a:buFont typeface="Wingdings" panose="05000000000000000000" pitchFamily="2" charset="2"/>
              <a:buChar char="Ø"/>
            </a:pPr>
            <a:r>
              <a:rPr lang="en-IN" sz="1400" i="1" dirty="0">
                <a:solidFill>
                  <a:schemeClr val="tx1">
                    <a:lumMod val="40000"/>
                    <a:lumOff val="60000"/>
                  </a:schemeClr>
                </a:solidFill>
              </a:rPr>
              <a:t>Data Quality: Finding a reliable dataset containing both phishing and legitimate URLs.</a:t>
            </a:r>
          </a:p>
          <a:p>
            <a:pPr marL="285750" lvl="0" indent="-285750">
              <a:buFont typeface="Wingdings" panose="05000000000000000000" pitchFamily="2" charset="2"/>
              <a:buChar char="Ø"/>
            </a:pPr>
            <a:r>
              <a:rPr lang="en-IN" sz="1400" i="1" dirty="0">
                <a:solidFill>
                  <a:schemeClr val="tx1">
                    <a:lumMod val="40000"/>
                    <a:lumOff val="60000"/>
                  </a:schemeClr>
                </a:solidFill>
              </a:rPr>
              <a:t>Detection Accuracy: Identifying phishing links that look similar to genuine websites.</a:t>
            </a:r>
          </a:p>
          <a:p>
            <a:pPr marL="285750" lvl="0" indent="-285750">
              <a:buFont typeface="Wingdings" panose="05000000000000000000" pitchFamily="2" charset="2"/>
              <a:buChar char="Ø"/>
            </a:pPr>
            <a:r>
              <a:rPr lang="en-IN" sz="1400" i="1" dirty="0">
                <a:solidFill>
                  <a:schemeClr val="tx1">
                    <a:lumMod val="40000"/>
                    <a:lumOff val="60000"/>
                  </a:schemeClr>
                </a:solidFill>
              </a:rPr>
              <a:t>Quantum Limitations: Quantum machine learning can require more resources and may not outperform traditional models.</a:t>
            </a:r>
          </a:p>
          <a:p>
            <a:pPr marL="285750" lvl="0" indent="-285750">
              <a:buFont typeface="Wingdings" panose="05000000000000000000" pitchFamily="2" charset="2"/>
              <a:buChar char="Ø"/>
            </a:pPr>
            <a:r>
              <a:rPr lang="en-IN" sz="1400" i="1" dirty="0">
                <a:solidFill>
                  <a:schemeClr val="tx1">
                    <a:lumMod val="40000"/>
                    <a:lumOff val="60000"/>
                  </a:schemeClr>
                </a:solidFill>
              </a:rPr>
              <a:t>False Predictions: Avoiding incorrect warnings for safe links or missing harmful ones.</a:t>
            </a:r>
          </a:p>
          <a:p>
            <a:r>
              <a:rPr lang="en-IN" sz="1600" b="1" i="1" dirty="0">
                <a:solidFill>
                  <a:schemeClr val="tx1">
                    <a:lumMod val="40000"/>
                    <a:lumOff val="60000"/>
                  </a:schemeClr>
                </a:solidFill>
              </a:rPr>
              <a:t>Future Scope</a:t>
            </a:r>
          </a:p>
          <a:p>
            <a:pPr marL="285750" lvl="0" indent="-285750">
              <a:buFont typeface="Wingdings" panose="05000000000000000000" pitchFamily="2" charset="2"/>
              <a:buChar char="Ø"/>
            </a:pPr>
            <a:r>
              <a:rPr lang="en-IN" sz="1400" i="1" dirty="0">
                <a:solidFill>
                  <a:schemeClr val="tx1">
                    <a:lumMod val="40000"/>
                    <a:lumOff val="60000"/>
                  </a:schemeClr>
                </a:solidFill>
              </a:rPr>
              <a:t>Improve detection using larger and more updated datasets.</a:t>
            </a:r>
          </a:p>
          <a:p>
            <a:pPr marL="285750" lvl="0" indent="-285750">
              <a:buFont typeface="Wingdings" panose="05000000000000000000" pitchFamily="2" charset="2"/>
              <a:buChar char="Ø"/>
            </a:pPr>
            <a:r>
              <a:rPr lang="en-IN" sz="1400" i="1" dirty="0">
                <a:solidFill>
                  <a:schemeClr val="tx1">
                    <a:lumMod val="40000"/>
                    <a:lumOff val="60000"/>
                  </a:schemeClr>
                </a:solidFill>
              </a:rPr>
              <a:t>Add real-time URL scanning and browser integration.</a:t>
            </a:r>
          </a:p>
          <a:p>
            <a:pPr marL="285750" lvl="0" indent="-285750">
              <a:buFont typeface="Wingdings" panose="05000000000000000000" pitchFamily="2" charset="2"/>
              <a:buChar char="Ø"/>
            </a:pPr>
            <a:r>
              <a:rPr lang="en-IN" sz="1400" i="1" dirty="0">
                <a:solidFill>
                  <a:schemeClr val="tx1">
                    <a:lumMod val="40000"/>
                    <a:lumOff val="60000"/>
                  </a:schemeClr>
                </a:solidFill>
              </a:rPr>
              <a:t>Develop a mobile application for easier access.</a:t>
            </a:r>
          </a:p>
          <a:p>
            <a:pPr marL="285750" lvl="0" indent="-285750">
              <a:buFont typeface="Wingdings" panose="05000000000000000000" pitchFamily="2" charset="2"/>
              <a:buChar char="Ø"/>
            </a:pPr>
            <a:r>
              <a:rPr lang="en-IN" sz="1400" i="1" dirty="0">
                <a:solidFill>
                  <a:schemeClr val="tx1">
                    <a:lumMod val="40000"/>
                    <a:lumOff val="60000"/>
                  </a:schemeClr>
                </a:solidFill>
              </a:rPr>
              <a:t>Extend detection to suspicious emails, fake websites, and other online scams.</a:t>
            </a:r>
          </a:p>
          <a:p>
            <a:pPr marL="285750" lvl="0" indent="-285750">
              <a:buFont typeface="Wingdings" panose="05000000000000000000" pitchFamily="2" charset="2"/>
              <a:buChar char="Ø"/>
            </a:pPr>
            <a:r>
              <a:rPr lang="en-IN" sz="1400" i="1" dirty="0">
                <a:solidFill>
                  <a:schemeClr val="tx1">
                    <a:lumMod val="40000"/>
                    <a:lumOff val="60000"/>
                  </a:schemeClr>
                </a:solidFill>
              </a:rPr>
              <a:t>Deploy the system as a scalable cybersecurity tool.</a:t>
            </a:r>
          </a:p>
          <a:p>
            <a:pPr marL="285750" lvl="0" indent="-285750">
              <a:buFont typeface="Wingdings" panose="05000000000000000000" pitchFamily="2" charset="2"/>
              <a:buChar char="Ø"/>
            </a:pPr>
            <a:endParaRPr lang="en-IN" sz="1400" i="1" dirty="0">
              <a:solidFill>
                <a:schemeClr val="tx1">
                  <a:lumMod val="40000"/>
                  <a:lumOff val="60000"/>
                </a:schemeClr>
              </a:solidFill>
            </a:endParaRP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1144" y="32918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REPOSITORY</a:t>
            </a:r>
            <a:endParaRPr lang="en-US" sz="900" dirty="0"/>
          </a:p>
          <a:p>
            <a:r>
              <a:rPr lang="en-US" sz="900" dirty="0"/>
              <a:t>https://github.com/vtu-qiskit-fall-fest-2026/vtu-hc-clauds-plan</a:t>
            </a:r>
          </a:p>
        </p:txBody>
      </p:sp>
      <p:sp>
        <p:nvSpPr>
          <p:cNvPr id="6" name="Field: DEMO VIDEO LINK"/>
          <p:cNvSpPr/>
          <p:nvPr/>
        </p:nvSpPr>
        <p:spPr>
          <a:xfrm>
            <a:off x="2834639" y="3291840"/>
            <a:ext cx="2433757"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r>
              <a:rPr lang="en-US" sz="900" b="1" kern="0" spc="100" dirty="0">
                <a:solidFill>
                  <a:srgbClr val="5B3BA8"/>
                </a:solidFill>
                <a:latin typeface="Calibri" pitchFamily="34" charset="0"/>
                <a:ea typeface="Calibri" pitchFamily="34" charset="-122"/>
                <a:cs typeface="Calibri" pitchFamily="34" charset="-120"/>
              </a:rPr>
              <a:t>DEMO VIDEO https://youtu.be/LQtrbrABnbw?si=Ebv2eoGLbYADO3tcNK</a:t>
            </a:r>
            <a:endParaRPr lang="en-US" sz="900" dirty="0"/>
          </a:p>
        </p:txBody>
      </p:sp>
      <p:pic>
        <p:nvPicPr>
          <p:cNvPr id="7" name="Bloch sphere ring" descr="sphere.png"/>
          <p:cNvPicPr>
            <a:picLocks noChangeAspect="1"/>
          </p:cNvPicPr>
          <p:nvPr/>
        </p:nvPicPr>
        <p:blipFill>
          <a:blip r:embed="rId3"/>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4"/>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5"/>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6"/>
          <a:stretch>
            <a:fillRect/>
          </a:stretch>
        </p:blipFill>
        <p:spPr>
          <a:xfrm>
            <a:off x="8229600" y="4023360"/>
            <a:ext cx="457200" cy="274320"/>
          </a:xfrm>
          <a:prstGeom prst="rect">
            <a:avLst/>
          </a:prstGeom>
        </p:spPr>
      </p:pic>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907</Words>
  <Application>Microsoft Office PowerPoint</Application>
  <PresentationFormat>On-screen Show (16:9)</PresentationFormat>
  <Paragraphs>119</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Georgia</vt:lpstr>
      <vt:lpstr>Nirmala UI</vt:lpstr>
      <vt:lpstr>Wingdings</vt:lpstr>
      <vt:lpstr>Qiskit Fall Fest</vt:lpstr>
      <vt:lpstr>PowerPoint Presentation</vt:lpstr>
      <vt:lpstr>Problem Statement</vt:lpstr>
      <vt:lpstr>Objectives &amp; Novelty</vt:lpstr>
      <vt:lpstr>Solution &amp; Quantum Advantage</vt:lpstr>
      <vt:lpstr>Algorithm</vt:lpstr>
      <vt:lpstr>Implementation &amp; Tech Stack</vt:lpstr>
      <vt:lpstr>Results &amp; Analysis</vt:lpstr>
      <vt:lpstr>Impact &amp; Real-World Applications</vt:lpstr>
      <vt:lpstr>Challenges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Narasimha kulkarni</cp:lastModifiedBy>
  <cp:revision>2</cp:revision>
  <dcterms:modified xsi:type="dcterms:W3CDTF">2026-10-23T09:21:34Z</dcterms:modified>
</cp:coreProperties>
</file>